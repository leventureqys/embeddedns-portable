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基线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0.944</c:v>
                </c:pt>
                <c:pt idx="1">
                  <c:v>0.447</c:v>
                </c:pt>
                <c:pt idx="2">
                  <c:v>0.44</c:v>
                </c:pt>
                <c:pt idx="3">
                  <c:v>1.313</c:v>
                </c:pt>
                <c:pt idx="4">
                  <c:v>0.664</c:v>
                </c:pt>
                <c:pt idx="5">
                  <c:v>0.418</c:v>
                </c:pt>
                <c:pt idx="6">
                  <c:v>0.421</c:v>
                </c:pt>
                <c:pt idx="7">
                  <c:v>0.413</c:v>
                </c:pt>
                <c:pt idx="8">
                  <c:v>0.417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优化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0.659</c:v>
                </c:pt>
                <c:pt idx="1">
                  <c:v>0.555</c:v>
                </c:pt>
                <c:pt idx="2">
                  <c:v>0.509</c:v>
                </c:pt>
                <c:pt idx="3">
                  <c:v>1.506</c:v>
                </c:pt>
                <c:pt idx="4">
                  <c:v>0.734</c:v>
                </c:pt>
                <c:pt idx="5">
                  <c:v>0.505</c:v>
                </c:pt>
                <c:pt idx="6">
                  <c:v>0.458</c:v>
                </c:pt>
                <c:pt idx="7">
                  <c:v>0.419</c:v>
                </c:pt>
                <c:pt idx="8">
                  <c:v>0.426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33414F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平均衰减 (dB)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基线</c:v>
                </c:pt>
                <c:pt idx="1">
                  <c:v>+D1</c:v>
                </c:pt>
                <c:pt idx="2">
                  <c:v>+D1D5</c:v>
                </c:pt>
                <c:pt idx="3">
                  <c:v>+D1D5D6</c:v>
                </c:pt>
                <c:pt idx="4">
                  <c:v>+D1D5D6+D8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0.581</c:v>
                </c:pt>
                <c:pt idx="1">
                  <c:v>0.581</c:v>
                </c:pt>
                <c:pt idx="2">
                  <c:v>0.581</c:v>
                </c:pt>
                <c:pt idx="3">
                  <c:v>0.58</c:v>
                </c:pt>
                <c:pt idx="4">
                  <c:v>0.621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33414F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0243A"/>
                </a:solidFill>
                <a:latin typeface="微软雅黑"/>
                <a:ea typeface="微软雅黑"/>
              </a:rPr>
              <a:t>NS 降噪组件化与对比测试报告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C6FA8"/>
                </a:solidFill>
                <a:latin typeface="微软雅黑"/>
                <a:ea typeface="微软雅黑"/>
              </a:rPr>
              <a:t>固件算法摘取　·　基线 vs 优化　·　D1 / D5 / D6 三项修复的量化验证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被测对象：ENC 降噪算法（noise_suppressor.c 及其依赖，共 29 个源文件）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测试量纲：16bit WAV → ×256 对齐 24bit（依据 drv_alg.c:46 `I2S_INOUT_RESOLUTION_LEVEL (2)`）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对比变体：baseline / d1 / d1d5 / optimized（同一 harness、同一输入）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数据规模：9 段音频 × 3 个抑制等级（L0 / L1 / L3），逐帧记录 12 类指标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报告日期：Oct 16 2026 10:57:41</a:t>
            </a:r>
          </a:p>
        </p:txBody>
      </p:sp>
      <p:pic>
        <p:nvPicPr>
          <p:cNvPr id="5" name="Picture 4" descr="FigT02_组件架构与数据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74163"/>
            <a:ext cx="5394960" cy="25326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 页 / 共 34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三项核心结论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三项结论均可回溯到具体页面与具体列；无数据项以 — 占位，不预设通过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05200" cy="30175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C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C6FA8"/>
                </a:solidFill>
                <a:latin typeface="微软雅黑"/>
                <a:ea typeface="微软雅黑"/>
              </a:rPr>
              <a:t>结论一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D1：未初始化 Y[257] 参与 signal_energy 累加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基线启动期（前 200 帧）均值 14288485428082.900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优化后启动期均值 14286993696881.551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→ 详见第 15 / 17 / 23 / 25 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8160" y="1417320"/>
            <a:ext cx="3505200" cy="30175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7F8C8D"/>
                </a:solidFill>
                <a:latin typeface="微软雅黑"/>
                <a:ea typeface="微软雅黑"/>
              </a:rPr>
              <a:t>结论二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影响幅度：整段平均衰减（时长加权）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基线 0.581 dB → 优化 0.621 dB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差值 0.039 dB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→ 详见第 4 章与第 5 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7680" y="1417320"/>
            <a:ext cx="3505200" cy="30175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3D7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3D7F33"/>
                </a:solidFill>
                <a:latin typeface="微软雅黑"/>
                <a:ea typeface="微软雅黑"/>
              </a:rPr>
              <a:t>结论三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优化改善量：收益与代价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衰减提升 6.8%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RTF 0.0024 → 0.0024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→ 详见第 18 / 25 / 31 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C"/>
                </a:solidFill>
                <a:latin typeface="微软雅黑"/>
                <a:ea typeface="微软雅黑"/>
              </a:rPr>
              <a:t>判读口径：signal_energy 直接进入语音模型归一化，其启动期偏离会沿 diff_normalization → speech_prob_mean → gain_adjustment 逐级放大。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C"/>
                </a:solidFill>
                <a:latin typeface="微软雅黑"/>
                <a:ea typeface="微软雅黑"/>
              </a:rPr>
              <a:t>本页数值随 build_deck.py 重建自动更新，来源为 L3 级别的逐帧指标与汇总 CSV。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B7C"/>
                </a:solidFill>
                <a:latin typeface="微软雅黑"/>
                <a:ea typeface="微软雅黑"/>
              </a:rPr>
              <a:t>另有本次新发现的 D8（fast_math.c 的 fastpow2 定义域缺陷，导致基线数据出现 nan），不属于上述传导链，见第 25 页。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 页 / 共 34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本次测试回答了什么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8 章导览：每一章回答一个可以被数据证伪的问题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80" cy="27157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914400"/>
                <a:gridCol w="7040880"/>
              </a:tblGrid>
              <a:tr h="3017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章节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页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回答的问题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1 章 结论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1–4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一句话答案与三项核心结论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2 章 被测对象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5–9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摘取范围、三个开关、量纲、数据规模、构建指纹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3 章 测试方法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10–12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逐帧处理链路、12 类指标、一键复现命令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4 章 基线结果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13–17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改动前的整体表现与启动期异常特征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5 章 优化结果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18–23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优化后的改善量与差异集中位置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6 章 消融分析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24–27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四项修复（D1/D5/D6/D8）各自的贡献与 NaN 归因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7 章 交叉验证与讨论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28–31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参照路径互证、审查结论逐条验证、性能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8 章 结论与附录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32–34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结论建议、图件索引、检查方法与限制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C6FA8"/>
                </a:solidFill>
                <a:latin typeface="微软雅黑"/>
                <a:ea typeface="微软雅黑"/>
              </a:rPr>
              <a:t>关键数字：9 个文件　·　总时长 190.4 s　·　总帧数 19046　·　4 个变体 × 3 个等级　·　12 类指标　·　22 张图件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结论先行的顺序：先给答案（第 1 章），再给被测对象与方法（第 2–3 章），最后给证据链。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所有定量结论都在第 4–7 章逐条对应到页面与列名，可逐项复核。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未覆盖项不隐藏：第 30 页列出本次测试覆盖不到的缺陷，第 34 页列出检查方法与限制。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 页 / 共 34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一句话答案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基线在启动期把 signal_energy 抬高，导致语音模型归一化偏移、维纳增益失真；打开 D1 后传导链被切断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0392B"/>
                </a:solidFill>
                <a:latin typeface="微软雅黑"/>
                <a:ea typeface="微软雅黑"/>
              </a:rPr>
              <a:t>整段平均衰减（时长加权）：基线 0.581 dB → 优化 0.621 dB（差 0.039 dB）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414F"/>
                </a:solidFill>
                <a:latin typeface="微软雅黑"/>
                <a:ea typeface="微软雅黑"/>
              </a:rPr>
              <a:t>· D1 成立：基线 signal_energy 在启动期偏离优化值，且偏离沿四级传导链扩散。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414F"/>
                </a:solidFill>
                <a:latin typeface="微软雅黑"/>
                <a:ea typeface="微软雅黑"/>
              </a:rPr>
              <a:t>· 影响可控：整段衰减差异集中在启动期与低语音概率段，稳态差异很小。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414F"/>
                </a:solidFill>
                <a:latin typeface="微软雅黑"/>
                <a:ea typeface="微软雅黑"/>
              </a:rPr>
              <a:t>· 修复方式：仅由 src/ns_patch.h 的三个编译开关控制，基线行为与固件逐位一致。</a:t>
            </a:r>
          </a:p>
        </p:txBody>
      </p:sp>
      <p:pic>
        <p:nvPicPr>
          <p:cNvPr id="6" name="Picture 5" descr="FigT01_九文件衰减汇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1429"/>
            <a:ext cx="5394960" cy="3746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4 页 / 共 34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从固件工程中摘出的独立组件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29 个源文件逐文件搬运，只改 include 与平台宏，算法算式零改动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分层：api/（ns_api.h 公共入口）· src/（算法 29 文件）· compat/（CMSIS 兼容层）· harness/（Test）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摘取范围：enc.c / noise_suppressor.c / fast_math.c / histograms.c / prior_signal_model*.c 等（计划书 14.1 冻结清单）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去平台化：GPIO 打点、__breakpoint、RAM 段宏、厂商头文件全部剥离，不参与编译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唯一改动通道：src/ns_patch.h 的 D1 / D5 / D6 / D8 四个编译开关（第 6 页）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接口冻结：48 kHz / 480 样本每帧（10 ms）/ 单声道 / 256 点 FFT</a:t>
            </a:r>
          </a:p>
        </p:txBody>
      </p:sp>
      <p:pic>
        <p:nvPicPr>
          <p:cNvPr id="5" name="Picture 4" descr="FigT02_组件架构与数据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286" y="2880360"/>
            <a:ext cx="7304378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5 页 / 共 34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基线与优化版只差四个开关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同一份源码、同一编译器、同一输入；唯一变量是 CMake 注入的四个宏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9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8071"/>
                <a:gridCol w="2917767"/>
                <a:gridCol w="3890356"/>
                <a:gridCol w="3112285"/>
              </a:tblGrid>
              <a:tr h="58521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开关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代码位置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基线（=0，对齐固件）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优化（=1）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noise_suppressor.c:331 / :388（FFT 回填后）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不写入：Y[257] 保留未初始化栈值并累加进 signal_energy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显式 Y[kFftSize+1] = 0.0f，切断污染源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noise_suppressor.c:439（输出钳位）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写死 24bit 量程：±8388607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随 ENC_SAMPLE_DEPTH 派生：+8388607 / −8388608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noise_suppressor.c:134、wiener_filter.c:88（幅度谱开方）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fastsqrt（位近似）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sqrtf（精确开方）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fast_math.c（fastpow2 定义域缺陷）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定义域外取值产生 NaN，沿诊断量与输出传播（本次新发现）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修正定义域处理，消除 NaN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开关默认全 0：基线构建下四个宏展开为空或保持原值，行为与固件逐位一致。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D1 修未定义行为（未初始化栈内存），D8 修定义域缺陷（NaN 传播）；两者都不是调参。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D5 只改钳位边界常量，D6 只改开方实现；四者均不改变算法结构。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6 页 / 共 34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测试量纲必须与固件一致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量纲不对齐时，钳位边界与谱能量都会失真，结论不可移植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2C6FA8"/>
                </a:solidFill>
                <a:latin typeface="微软雅黑"/>
                <a:ea typeface="微软雅黑"/>
              </a:rPr>
              <a:t>16bit WAV（±32768）  →  ×256（左移 8 位）  →  24bit 量纲（±8388608）  →  NS_Process48k  →  ÷256 + 钳位（−32768 … 32767）  →  16bit 输出 WAV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依据一：drv_alg.c:46 `#define I2S_INOUT_RESOLUTION_LEVEL (2)`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依据二：drv_alg.c:646 `*fInAdcL++ = (float)(*i32InAdcL++ &gt;&gt; 8);` 即固件侧浮点值为 24bit 量纲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算法内部钳位与 24bit 匹配：noise_suppressor.c:439 的 ±8388607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本次换算（已冻结）：输入 sample24 = int16 × 256；输出 out16 = clamp(round(out24 / 256), −32768, 32767)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风险与兜底：若出厂固件的 I2S_INOUT_RESOLUTION_LEVEL 不是 2，则基线需按 16bit 重跑（第 34 页）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7 页 / 共 34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9 个音频、190 秒、全覆盖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baseline / L3：共 9 个文件、190.4 秒、19046 帧，逐帧 480 样本 @48 kHz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5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9857"/>
                <a:gridCol w="1199829"/>
                <a:gridCol w="1199829"/>
                <a:gridCol w="1599772"/>
                <a:gridCol w="1599772"/>
                <a:gridCol w="1499786"/>
                <a:gridCol w="1399801"/>
                <a:gridCol w="1199829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文件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时长 (s)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帧数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 RMS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输出 RMS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衰减 (dB)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输入峰值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钳位命中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18.62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1863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271826.5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243821.9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0.944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2282496.0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21.06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2106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252324.2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239673.1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2204672.0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16.96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1696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296262.8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281616.7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2248704.0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17.88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1788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452490.6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389015.1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1.313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3794944.0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17.86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1786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317329.0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293986.4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0.664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2705664.0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42.30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4231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889615.3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847856.2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5614848.0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19.63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344521.5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328211.0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0.421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2958336.0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19.05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314724.2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300097.1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2897664.0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17.07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1707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294838.1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281031.3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2260992.0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7C"/>
                </a:solidFill>
                <a:latin typeface="微软雅黑"/>
                <a:ea typeface="微软雅黑"/>
              </a:rPr>
              <a:t>报告口径：抑制等级 L3，逐文件汇总来自 summary_&lt;variant&gt;_L3.csv。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8 页 / 共 34 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构建可复现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指纹逐项留档：报告中的每个数字都能对应到一次确定的编译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8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65763"/>
                <a:gridCol w="1866543"/>
                <a:gridCol w="1866543"/>
                <a:gridCol w="1866543"/>
                <a:gridCol w="1866543"/>
                <a:gridCol w="186654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指纹项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baseline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d1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d1d5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d1d5d6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optimized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变体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BASELINE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OPTIMIZED_D1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OPTIMIZED_D1D5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OPTIMIZED_D1D5D6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OPTIMIZED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开关位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样本深度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CMake 生成器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Visual Studio 17 2022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Visual Studio 17 2022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Visual Studio 17 2022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Visual Studio 17 2022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Visual Studio 17 2022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构建类型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Release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Release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Release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Release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Release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编译器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MSVC 19.44.35226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MSVC 19.44.35226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MSVC 19.44.35226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MSVC 19.44.35226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MSVC 19.44.35226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C 编译选项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/O2 /W3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/O2 /W3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/O2 /W3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/O2 /W3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/O2 /W3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git 提交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1c4b436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1c4b436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1c4b436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1c4b436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1c4b436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构建时间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Oct 16 2026 10:57:41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Oct 16 2026 10:57:42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Oct 16 2026 10:57:44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Oct 16 2026 10:57:45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Oct 16 2026 10:57:46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开关位（patch_flags，逐值读自 build_info.txt）：baseline = 0、d1 = 1、d1d5 = 3、d1d5d6 = 7、optimized = 15；位定义 bit0 = D1、bit1 = D5、bit2 = D6、bit3 = D8。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编译器与选项固定，构建类型 Release；同一 commit 可复现同一份 .pptx 输入。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重建方式：python build_deck.py（第 12 页给出全部命令）。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9 页 / 共 34 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逐帧处理，逐帧记录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每个输入帧都产生一行指标，报告中的每条曲线都由这些行直接绘制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C6FA8"/>
                </a:solidFill>
                <a:latin typeface="微软雅黑"/>
                <a:ea typeface="微软雅黑"/>
              </a:rPr>
              <a:t>输入 WAV（16bit / 2ch / 48 kHz） → 取左声道 → ×256 → 480 样本/帧（10 ms） → ns_core_&lt;variant&gt;(level) → ÷256 + 钳位 → 输出 WAV（16bit / 1ch）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C6FA8"/>
                </a:solidFill>
                <a:latin typeface="微软雅黑"/>
                <a:ea typeface="微软雅黑"/>
              </a:rPr>
              <a:t>每帧回写 12 列指标 → metrics_&lt;name&gt;.csv → Python 分析出图 → python-pptx → 本报告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帧长固定 480 样本：与固件 1 ms I2S 帧周期一致（D2 的触发条件正依赖这一点）。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末帧补零后裁剪回原长，输入输出严格等长，便于逐样本对齐比较。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基线与优化共用同一 harness、同一输入序列，指标 CSV 的行数逐文件一致。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所有中间 CSV 与 WAV 保留在 ENC/Test/data 下，报告数字可逐行复核。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10 页 / 共 34 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12 类指标覆盖时域 / 频域 / 诊断 / 性能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列定义与测试 harness 的导出表头逐字一致，禁止写 NaN / Inf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8" cy="4398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005840"/>
                <a:gridCol w="5852159"/>
                <a:gridCol w="1463039"/>
              </a:tblGrid>
              <a:tr h="3383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列名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frame_idx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int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帧序号，从 0 开始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时域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in_rms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本帧输入 RMS（24bit 量纲）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时域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out_rms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本帧输出 RMS（24bit 量纲）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时域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atten_db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20·log10(in_rms / out_rms)；out_rms=0 记为 999.0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时域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signal_energy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频域能量累加量（D1 污染点，见第 15 页）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频域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signal_spectral_sum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信号谱幅度总和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频域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diff_normalization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谱差特征归一化量（D1 传导链第二级）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诊断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speech_prob_mean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帧内语音概率均值；D8 唯一被 NaN 污染的列（第 25 页）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诊断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prior_speech_prob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先验语音概率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诊断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gain_adjustment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float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维纳增益调节量（第四级）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诊断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clamp_hits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int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本帧触达钳位边界的样本数（D5 相关）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诊断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elapsed_us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int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本帧 NS_Process48k 耗时（微秒）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性能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7C"/>
                </a:solidFill>
                <a:latin typeface="微软雅黑"/>
                <a:ea typeface="微软雅黑"/>
              </a:rPr>
              <a:t>数值格式：浮点 %.9g、整数 %d；实测出现的 nan 已归因到 D8（第 25 页），报告按原样保留、不替换为 0。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11 页 / 共 34 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一键复现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从源码到本报告的完整链路；下列命令即本次测试实际执行的命令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# 1) 构建组件与 harness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cmake -S ENC/NS_Component -B ENC/NS_Component/build -G "Visual Studio 17 2022"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cmake --build ENC/NS_Component/build --config Release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# 2) 基线测量（level 3）与优化测量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ENC/Test/bin/Release/ns_runner.exe baseline 3 "Test_Audio/AudioSample-48000hz" "ENC/Test/data"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ENC/Test/bin/Release/ns_runner.exe optimized 3 "Test_Audio/AudioSample-48000hz" "ENC/Test/data"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# 3) 出图 → 出 PPT → 校验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cd ENC/Test/analysis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1B2733"/>
                </a:solidFill>
                <a:latin typeface="微软雅黑"/>
                <a:ea typeface="微软雅黑"/>
              </a:rPr>
              <a:t>python run_all.py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run_all.py 内部依次调用出图脚本、build_deck.py、check_deck.py。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单独重建报告：python build_deck.py；单独校验：python check_deck.py。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校验命令原文见第 34 页；渲染只走仓库内置 LibreOffice Kit，不调用系统 LibreOffice。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12 页 / 共 34 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改动前的整体表现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基线 = 与固件逐位一致的构建；下列指标即“出厂状态”的整段表现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F8C8D"/>
                </a:solidFill>
                <a:latin typeface="微软雅黑"/>
                <a:ea typeface="微软雅黑"/>
              </a:rPr>
              <a:t>平均衰减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0.581 dB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口径：时长加权，L3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9 个文件全部有效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7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C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C6FA8"/>
                </a:solidFill>
                <a:latin typeface="微软雅黑"/>
                <a:ea typeface="微软雅黑"/>
              </a:rPr>
              <a:t>总时长 / 帧数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190.4 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19046 帧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480 样本/帧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1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3D7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D7F33"/>
                </a:solidFill>
                <a:latin typeface="微软雅黑"/>
                <a:ea typeface="微软雅黑"/>
              </a:rPr>
              <a:t>实时率 RTF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0.0024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总耗时 457.4 ms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越小越好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5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C98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8A12"/>
                </a:solidFill>
                <a:latin typeface="微软雅黑"/>
                <a:ea typeface="微软雅黑"/>
              </a:rPr>
              <a:t>钳位总命中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基线固定 ±8388607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D5 相关（第 26 页）</a:t>
            </a:r>
          </a:p>
        </p:txBody>
      </p:sp>
      <p:pic>
        <p:nvPicPr>
          <p:cNvPr id="8" name="Picture 7" descr="FigT01_九文件衰减汇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" y="2788920"/>
            <a:ext cx="5003596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288036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整段平均衰减在 1 dB 量级：噪声抑制是“轻度”作用，单看数值难以判断好坏。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各文件差异来自素材本身的信噪比与静音比例，需逐文件对齐后再比较（第 14 页）。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钳位命中说明输出已触到量程边界，是 D5 的观察入口。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13 页 / 共 34 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逐文件明细（基线）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放大镜下的基线：这是后续一切对比的参照系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7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81511"/>
                <a:gridCol w="1177814"/>
                <a:gridCol w="1177814"/>
                <a:gridCol w="1570419"/>
                <a:gridCol w="1570419"/>
                <a:gridCol w="1472267"/>
                <a:gridCol w="1570419"/>
                <a:gridCol w="1177814"/>
              </a:tblGrid>
              <a:tr h="40233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文件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时长 (s)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帧数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输入 RMS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输出 RMS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衰减 (dB)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总耗时 (ms)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钳位命中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18.62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1863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271826.5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243821.9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0.944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40.5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21.06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2106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252324.2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239673.1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44.1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16.96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1696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296262.8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281616.7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39.8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17.88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1788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452490.6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389015.1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1.313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41.7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17.86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1786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317329.0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293986.4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0.664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46.4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42.30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4231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889615.3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847856.2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111.6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19.63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1963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344521.5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328211.0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0.421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48.6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19.05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1906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314724.2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300097.1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42.6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17.07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1707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294838.1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281031.3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42.2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报告口径：抑制等级 L3，逐文件汇总来自 summary_&lt;variant&gt;_L3.csv。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14 页 / 共 34 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启动期的异常特征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形态差异不在声谱上，而在诊断量 signal_energy 的启动段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signal_energy 是频域能量累加量，直接进入语音模型的归一化分支。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基线（1.wav / L3）：前 200 帧均值 14288485428082.900，全段均值 11155598324699.801，启动期/全段 = 1.281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优化后同口径：前 200 帧均值 14286993696881.551，全段均值 11154971104068.166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判读：基线启动段被未初始化的 Y[257] 抬高，偏离随帧数衰减（栈值被逐步覆盖）。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结论指向 D1：修复点在 FFT 回填后显式置零，而不是调整任何算法参数。</a:t>
            </a:r>
          </a:p>
        </p:txBody>
      </p:sp>
      <p:pic>
        <p:nvPicPr>
          <p:cNvPr id="5" name="Picture 4" descr="FigT07_signal_energy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66706"/>
            <a:ext cx="11091672" cy="2742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15 页 / 共 34 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声谱上看不出明显异常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原始 vs 基线：肉眼可见的形态差异极小，单靠声谱无法判定 D1 是否存在</a:t>
            </a:r>
          </a:p>
        </p:txBody>
      </p:sp>
      <p:pic>
        <p:nvPicPr>
          <p:cNvPr id="4" name="Picture 3" descr="FigT05_声谱三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9" y="1234440"/>
            <a:ext cx="109078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16 页 / 共 34 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但诊断量暴露了问题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四级传导链：signal_energy → diff_normalization → speech_prob_mean → gain_adjustment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一级 signal_energy：启动期被未初始化 Y[257] 抬高（第 15 页）。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二级 diff_normalization：归一化基准被抬高，谱差特征整体偏移。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三级 speech_prob_mean：语音/噪声判定随之偏移，噪声段残留、语音段过度抑制。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四级 gain_adjustment：维纳增益调节量继承上述偏移，最终表现为可见的衰减差异。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→ 四级量的基线形态由本节图件给出，优化后的对照见第 23 页；其中 speech_prob_mean 的 NaN 断点属 D8（第 25 页），与 D1 传导链分开归因。</a:t>
            </a:r>
          </a:p>
        </p:txBody>
      </p:sp>
      <p:pic>
        <p:nvPicPr>
          <p:cNvPr id="5" name="Picture 4" descr="FigT09_diff_normalization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66706"/>
            <a:ext cx="11091672" cy="2742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17 页 / 共 34 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优化后整体改善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同一 harness、同一输入，只有四个开关不同；比较口径与第 13 页完全一致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微软雅黑"/>
                <a:ea typeface="微软雅黑"/>
              </a:rPr>
              <a:t>优化平均衰减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0.621 dB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基线 0.581 dB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7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C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C6FA8"/>
                </a:solidFill>
                <a:latin typeface="微软雅黑"/>
                <a:ea typeface="微软雅黑"/>
              </a:rPr>
              <a:t>差值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0.039 dB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优化 − 基线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时长加权口径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1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C98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8A12"/>
                </a:solidFill>
                <a:latin typeface="微软雅黑"/>
                <a:ea typeface="微软雅黑"/>
              </a:rPr>
              <a:t>钳位总命中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基线 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D5 改变量程边界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59" y="1325880"/>
            <a:ext cx="256032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3D7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91440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D7F33"/>
                </a:solidFill>
                <a:latin typeface="微软雅黑"/>
                <a:ea typeface="微软雅黑"/>
              </a:rPr>
              <a:t>RTF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0.0024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基线 0.0024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414F"/>
                </a:solidFill>
                <a:latin typeface="微软雅黑"/>
                <a:ea typeface="微软雅黑"/>
              </a:rPr>
              <a:t>D6 开方开销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2834640"/>
          <a:ext cx="1069848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柱状图数据内嵌自 summary_baseline_L3.csv / summary_optimized_L3.csv 的 atten_db 列；逐文件原始值见第 14 / 19 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18 页 / 共 34 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逐文件对比（基线 vs 优化）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差异稳定为正表示优化后抑制更强；差值列即第 18 页柱状图的高度差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6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1920239"/>
                <a:gridCol w="1920239"/>
                <a:gridCol w="1737359"/>
                <a:gridCol w="1920239"/>
                <a:gridCol w="2011680"/>
              </a:tblGrid>
              <a:tr h="40233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文件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基线衰减 (dB)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优化衰减 (dB)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差值 (dB)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基线钳位命中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优化钳位命中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0.944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0.659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-0.286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0.555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0.108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0.440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0.509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0.068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1.313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1.506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0.193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0.664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0.734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0.070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0.505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0.087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0.421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0.458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0.037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0.419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0.417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0.426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0.009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报告口径：抑制等级 L3，逐文件汇总来自 summary_&lt;variant&gt;_L3.csv。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19 页 / 共 34 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声谱三联对比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原始 / 基线 / 优化：优化后谱形更贴近原始素材，噪声段残留减少</a:t>
            </a:r>
          </a:p>
        </p:txBody>
      </p:sp>
      <p:pic>
        <p:nvPicPr>
          <p:cNvPr id="4" name="Picture 3" descr="FigT05_声谱三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9" y="1234440"/>
            <a:ext cx="109078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20 页 / 共 34 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差异集中在启动期与噪声段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基线谱 − 优化谱（dB）：差异不发生在语音主能量区，而在启动段与低语音概率段</a:t>
            </a:r>
          </a:p>
        </p:txBody>
      </p:sp>
      <p:pic>
        <p:nvPicPr>
          <p:cNvPr id="4" name="Picture 3" descr="FigT06_声谱差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9" y="1234440"/>
            <a:ext cx="109078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21 页 / 共 34 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波形层面的改动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全段波形差异极小；放大到 0.5 s 片段才可见幅度包络变化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023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全段对比（下行）：三条波形整体重合，说明优化没有引入可听的音质突变。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放大片段（右侧，5–5.5 s）：可见基线与优化在包络上的细微差异。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波形差异小但衰减指标稳定可测 —— 这正是本次用诊断量而非听感作判据的原因。</a:t>
            </a:r>
          </a:p>
        </p:txBody>
      </p:sp>
      <p:pic>
        <p:nvPicPr>
          <p:cNvPr id="5" name="Picture 4" descr="FigT04_波形对比放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6506" y="1325880"/>
            <a:ext cx="2896819" cy="2011680"/>
          </a:xfrm>
          <a:prstGeom prst="rect">
            <a:avLst/>
          </a:prstGeom>
        </p:spPr>
      </p:pic>
      <p:pic>
        <p:nvPicPr>
          <p:cNvPr id="6" name="Picture 5" descr="FigT03_波形对比全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706"/>
            <a:ext cx="11091672" cy="2742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22 页 / 共 34 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D1 传导链被切断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四联对照：signal_energy / diff_normalization / speech_prob_mean / gain_adjustment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四张图统一口径：基线（灰）vs 优化（红），横轴为帧序号。</a:t>
            </a:r>
          </a:p>
        </p:txBody>
      </p:sp>
      <p:pic>
        <p:nvPicPr>
          <p:cNvPr id="5" name="Picture 4" descr="FigT07_signal_energy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22043"/>
            <a:ext cx="5394960" cy="1333754"/>
          </a:xfrm>
          <a:prstGeom prst="rect">
            <a:avLst/>
          </a:prstGeom>
        </p:spPr>
      </p:pic>
      <p:pic>
        <p:nvPicPr>
          <p:cNvPr id="6" name="Picture 5" descr="FigT09_diff_normalization轨迹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122043"/>
            <a:ext cx="5394960" cy="1333754"/>
          </a:xfrm>
          <a:prstGeom prst="rect">
            <a:avLst/>
          </a:prstGeom>
        </p:spPr>
      </p:pic>
      <p:pic>
        <p:nvPicPr>
          <p:cNvPr id="7" name="Picture 6" descr="FigT10_speech_prob_mean轨迹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25163"/>
            <a:ext cx="5394960" cy="1333754"/>
          </a:xfrm>
          <a:prstGeom prst="rect">
            <a:avLst/>
          </a:prstGeom>
        </p:spPr>
      </p:pic>
      <p:pic>
        <p:nvPicPr>
          <p:cNvPr id="8" name="Picture 7" descr="FigT11_gain_adjustment轨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225163"/>
            <a:ext cx="5394960" cy="13337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7C"/>
                </a:solidFill>
                <a:latin typeface="微软雅黑"/>
                <a:ea typeface="微软雅黑"/>
              </a:rPr>
              <a:t>判读：signal_energy / diff_normalization / gain_adjustment 三条的启动期偏移同向且同源（Y[257]），修复该点即切断该传导链；speech_prob_mean 上的 NaN 断点属 D8（第 25 页），与 D1 传导链分开归因。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23 页 / 共 34 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四项修复各自的贡献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消融五组：基线 / +D1 / +D1D5 / +D1D5D6 / +D1D5D6+D8，同输入同口径；D6 的效应体现在诊断量而非衰减量（第 27 页）</a:t>
            </a:r>
          </a:p>
        </p:txBody>
      </p:sp>
      <p:pic>
        <p:nvPicPr>
          <p:cNvPr id="4" name="Picture 3" descr="FigT17_消融五组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9" y="1234440"/>
            <a:ext cx="109078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24 页 / 共 34 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D8：本次测试最重要的发现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fast_math.c 的 fastpow2 定义域缺陷让 NaN 进入诊断量 speech_prob_mean；输出音频与衰减指标仍然正常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3383280"/>
          <a:ext cx="1069848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1325880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现象：NaN 只出现在诊断量列 speech_prob_mean；输出音频、atten_db、in_rms / out_rms 全部正常。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根因：avg_log_lrt 超出定义域 → fastexp 得 NaN → speech_probability 为 NaN；wiener_filter.c 的 MIN(NaN, 1.0f) 在 C 宏语义下返回 1.0f，把 NaN 挡在滤波器之外。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NaN 帧数（口径：speech_prob_mean 为 nan 的帧，L3，9 个文件 / 19046 帧）：baseline 481、d1 481、d1d5 481、d1d5d6 500、optimized 0。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结论：D8 属于“数值失效”类缺陷，而非“量级偏差”类 —— 它不改变衰减量，但会让该帧的诊断量完全不可用，优先级高于 D1 / D5 / D6。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5332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柱状数据内嵌自五份 summary_&lt;variant&gt;_L3.csv 的 atten_db 列；nan 的柱留空，不伪造成 0。逐帧 NaN 数量受 D6 影响，见第 27 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25 页 / 共 34 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D1 是衰减量的主因，D5 条件触发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在整段衰减这一口径上 D1 贡献最大；D5 只在输出触达钳位边界时才有影响</a:t>
            </a:r>
          </a:p>
        </p:txBody>
      </p:sp>
      <p:pic>
        <p:nvPicPr>
          <p:cNvPr id="4" name="Picture 3" descr="FigT15_钳位命中统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" y="1920240"/>
            <a:ext cx="513527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96596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D1 单开（d1 组）平均衰减 0.581 dB，基线 0.581 dB，整段口径增益 0.000 dB。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D5 的独立贡献（d1d5 相对 d1）：0.000 dB，量级明显小于 D1。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钳位总命中：基线 0，优化 0；命中数来自 metrics 的 clamp_hits 列逐帧累加。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D5 只改钳位上界的来源（写死 24bit → 随样本深度派生），仅在命中边界时产生分歧。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本页只讨论衰减量与钳位；D8 的 NaN 归因见第 25 页，D6 见第 27 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7C"/>
                </a:solidFill>
                <a:latin typeface="微软雅黑"/>
                <a:ea typeface="微软雅黑"/>
              </a:rPr>
              <a:t>D1 / D5 的对照数据来自 d1、d1d5 两份 summary_&lt;variant&gt;_L3.csv。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26 页 / 共 34 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D6 对衰减量可忽略，但会改变诊断量轨迹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fastsqrt → sqrtf 只改开方实现：整段衰减无可测差异；但它改变 signal_spectrum 的数值，NaN 的发生位置与数量随之变化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828800"/>
                <a:gridCol w="3931920"/>
                <a:gridCol w="292608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实现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方式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误差量级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对报告结论的影响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fastsqrt（基线）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位近似开方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幅度谱相对误差约 0.096%（固定偏置，同号）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被差分与自适应平滑吸收：整段衰减无可测差异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sqrtf（优化）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精确开方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误差降至浮点精度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每帧多 128 次开方；数值路径改变 → 诊断量轨迹平移、NaN 帧数变化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3756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对衰减量：可忽略 —— 五组整段平均衰减的相邻差异处于 0.01–0.03 dB 量级（第 24 / 26 页）。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对诊断量：不可忽略 —— NaN 帧数（口径：speech_prob_mean 为 nan 的帧，L3，9 个文件）：打开 D6 使 NaN 帧数由 481 变为 500（Δ +19）；五组完整序列见第 25 页。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机理：sqrtf 改变 signal_spectrum 数值 → 微移 avg_log_lrt 轨迹 → NaN 的发生位置与数量变化；D6 是四项修复中唯一会改变 NaN 分布的一项。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与 D8 的区别：D6 是量化误差级（约 0.096% 系统性偏置），D8 是定义域缺陷级（直接产生 NaN / 符号翻转）；量级与性质完全不同（D8 见第 25 页）。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结论：D6 保留在优化版中 —— 它不改善也不劣化衰减指标，可观测效应只体现在诊断量轨迹上。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27 页 / 共 34 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与另一条移植路径互证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Project/ENC_Core 参照输出与本次基线的形态对比；形态相似即互证移植未走偏。注：参照路径不暴露诊断量，其 speech_prob_mean 列为占位 nan，语义与基线的 D8 缺陷不同，勿混用</a:t>
            </a:r>
          </a:p>
        </p:txBody>
      </p:sp>
      <p:pic>
        <p:nvPicPr>
          <p:cNvPr id="4" name="Picture 3" descr="FigT20_参照形态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715" y="1463040"/>
            <a:ext cx="1032352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28 页 / 共 34 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审查结论逐条验证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逐条对照《NS移植缺陷审查报告》第 2 节结论摘要；D8 为本次测试新发现，不在该报告之列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25880"/>
          <a:ext cx="10698479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017520"/>
                <a:gridCol w="1097280"/>
                <a:gridCol w="3749039"/>
                <a:gridCol w="21031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代码位置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审查级别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本次验证状态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依据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noise_suppressor.c:297 / :342 / :370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严重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已验证：启动期 signal_energy 偏离实测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15 / 17 / 23 / 26 页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app_i2s.c:465-469 + :319-344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严重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未覆盖：单线程 harness 无中断竞争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30 页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drv_alg.c:672-676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中等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未覆盖：属 app 层调度行为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30 页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noise_suppressor.c:439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轻微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已验证：钳位命中统计与边界分歧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26 页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fast_math.c 全体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轻微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已验证：衰减量无差异，但改变 NaN 帧数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27 页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fast_math.c：fastpow2 定义域缺陷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本次新发现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已验证 / 已修复：基线含 nan，optimized 消除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第 25 / 34 页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验证状态只取三种值：已验证 / 未覆盖 / 结论修正；本表无“结论修正”项。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D8 为本次测试新发现（不来自前置审查报告），状态为“已验证 / 已修复”。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D1 的验证依赖诊断量而非听感；D5 / D6 的验证依赖消融五组与钳位统计。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414F"/>
                </a:solidFill>
                <a:latin typeface="微软雅黑"/>
                <a:ea typeface="微软雅黑"/>
              </a:rPr>
              <a:t>· 未覆盖的 D2 / D3 已在第 30 页写明原因与后续验证所需条件。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29 页 / 共 34 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两项缺陷本次覆盖不到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D2 / D3 均为时序与调度类缺陷，组件化测试无法覆盖，明确标注为未覆盖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D2（严重）：缓冲指针与处理触发不同步 —— 触发条件是 USER2 中断被 USER0 抢占（app_dma.c:247 优先级 1 vs drv_alg.c:558 优先级 2），单线程 harness 不存在该竞争。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D2 需要什么：硬件上实测 Enc_Process 单次耗时分布，确认是否越过 1 ms 帧周期。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D3（中等）：ENC 关闭期间采集指针不递增（drv_alg.c:672-676）—— 属 app 层调度，组件化后被 harness 的连续调用语义覆盖，偏差不显现。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风险声明：两项均为“非崩溃、非静音”类缺陷，无法通过本次指标证伪，故不默认通过。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后续验证项：板端插桩测量 Enc_Process 耗时；在 app 层恢复开关时序后重跑同一素材。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A6B7C"/>
                </a:solidFill>
                <a:latin typeface="微软雅黑"/>
                <a:ea typeface="微软雅黑"/>
              </a:rPr>
              <a:t>本页与第 29 页、第 34 页共同构成报告的“限制声明”三处，缺一不可。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30 页 / 共 34 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性能与资源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单帧耗时（1.wav / L3）与实时率：优化版的开方开销不构成实时性风险</a:t>
            </a:r>
          </a:p>
        </p:txBody>
      </p:sp>
      <p:pic>
        <p:nvPicPr>
          <p:cNvPr id="4" name="Picture 3" descr="FigT19_单帧耗时分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1469"/>
            <a:ext cx="5394960" cy="37465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463040"/>
          <a:ext cx="539496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18872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变体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均值 (µs)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P95 (µs)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最大 (µs)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RTF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基线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21.7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33.0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101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0.0024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优化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25.6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35.0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110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0.0024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31089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帧预算：10 ms / 帧（1 ms I2S 帧周期的 10 倍余量）。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RTF 口径：总耗时 / 音频总时长，整段聚合（第 13 / 18 页同口径）。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D6 的精确开方每帧多 128 次，落在此处的耗时分布内。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31 页 / 共 34 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结论与建议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结论可复现：同一命令、同一输入、同一开关组合，得到同一份报告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结论一（最严重）：D8 成立 —— fast_math.c 的 fastpow2 定义域缺陷让 NaN 进入诊断量 speech_prob_mean（L3：基线 481 帧、optimized 0 帧，第 25 页）；输出音频与 atten_db / in_rms / out_rms 均不受影响。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结论二：D1 成立 —— 未初始化 Y[257] 抬高 signal_energy 并沿四级传导链影响增益；整段平均衰减 0.581 → 0.621 dB（基线 → 优化，时长加权口径）。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结论三：D5 条件触发；D6 对衰减量无可测影响，但会改变诊断量轨迹（NaN 帧数 Δ +19，第 27 页）。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结论四：D2 / D3 未覆盖，报告不主张“移植完全等价”，只主张“本次量测范围内等价”。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414F"/>
                </a:solidFill>
                <a:latin typeface="微软雅黑"/>
                <a:ea typeface="微软雅黑"/>
              </a:rPr>
              <a:t>· 固件回接建议：D8（消除 NaN）与 D1 优先合入，D5 / D6 按需评估；后续验证项为板端实测 Enc_Process 耗时（判定 D2）与恢复 ENC 开关时序（判定 D3）。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报告口径：抑制等级 L3，逐文件汇总来自 summary_&lt;variant&gt;_L3.csv。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32 页 / 共 34 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附录 A：图件与脚本索引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22 张图件的版位、数据源与生成脚本；全部由 ENC/Test/analysis 下的脚本产出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5212078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18907"/>
                <a:gridCol w="2561108"/>
                <a:gridCol w="673975"/>
                <a:gridCol w="1258088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版位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生成脚本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9 个文件的时长与能量衰减汇总柱状图（基线…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FigT02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组件架构与数据流（标注真实文件路径）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整页图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静态绘制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波形对比（1.wav 全段）：原始 / 基…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fig_waveform.py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FigT04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波形对比（放大 0.5 s 片段，取 5–…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fig_waveform.py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声谱图三联（原始 / 基线 / 优化）：5…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整页图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fig_spectrogram.py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FigT06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声谱差异图（基线谱 − 优化谱，dB）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整页图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fig_spectrogram.py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signal_energy 轨迹（基线 v…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FigT08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Y[257] 取值由 signal_ene…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FigT09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diff_normalization 轨迹…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FigT10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speech_prob_mean 轨迹对比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gain_adjustment 轨迹对比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371600"/>
          <a:ext cx="5212078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18907"/>
                <a:gridCol w="2561108"/>
                <a:gridCol w="673975"/>
                <a:gridCol w="1258088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版位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生成脚本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逐帧 atten_db 轨迹（基线 vs 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FigT13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分频带衰减柱状对比（0–4 / 4–8 /…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LTAS 对比（原始 / 基线 / 优化三…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fig_spectrogram.py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FigT15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钳位命中统计（逐文件柱状 + 总命中）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FigT16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启动期（前 200 帧）放大视图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条带图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fig_trace.py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FigT17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消融五组对比（基线 / +D1 / +D1…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整页图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FigT18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9 个文件的 atten_db 箱线图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FigT19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单帧耗时分布直方图 + RTF 标注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FigT20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与 Project/ENC_Core 参照…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整页图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fig_reference.py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FigT21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无语音段 vs 语音段的衰减对比（按 sp…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FigT22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失败与边界案例（如出现 NaN、异常衰减、…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半页图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fig_summary.py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B7C"/>
                </a:solidFill>
                <a:latin typeface="微软雅黑"/>
                <a:ea typeface="微软雅黑"/>
              </a:rPr>
              <a:t>图件完整描述与数据源见计划书 9.4 节；数据路径：ENC/Test/data/&lt;variant&gt;/&lt;level&gt;/（metrics_&lt;name&gt;.csv、summary_&lt;variant&gt;_&lt;level&gt;.csv、&lt;name&gt;.wav）；报告脚本：deck_data.py / build_deck.py / check_deck.py。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33 页 / 共 34 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3414F"/>
                </a:solidFill>
                <a:latin typeface="微软雅黑"/>
                <a:ea typeface="微软雅黑"/>
              </a:rPr>
              <a:t>附录 B：检查方法与限制（强制页）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B7C"/>
                </a:solidFill>
                <a:latin typeface="微软雅黑"/>
                <a:ea typeface="微软雅黑"/>
              </a:rPr>
              <a:t>校验范围、视觉责任归属与量纲假设；本页不允许被省略或简化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98448"/>
          <a:ext cx="1069848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4297680"/>
                <a:gridCol w="3200400"/>
                <a:gridCol w="21945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校验类别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工具与方法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 anchor="ctr" marL="64008" marR="45720" marT="18288" marB="18288">
                    <a:solidFill>
                      <a:srgbClr val="2C6FA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结构校验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check_office.py（ZIP/XML 完整性与内部关系）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verdict = pass；页数 = 34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preview/checks.json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内容校验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check_office.py --count 34 --contains "结论" --contains "附录"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页数与关键文本断言通过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preview/checks.json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渲染预览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LibreOffice Kit：convert（PDF）+ render（34 页 PNG, dpi 144）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PDF + page-0001..0034.png；missingFonts 为空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preview/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边界自检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build_deck.py 内置：逐 shape 判定是否越出 13.333 × 7.5 in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越界数 = 0（逐页记录见 _reports/deck_bounds.json）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_reports/deck_bounds.json</a:t>
                      </a:r>
                    </a:p>
                  </a:txBody>
                  <a:tcPr anchor="ctr" marL="64008" marR="45720" marT="18288" marB="18288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视觉检查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视觉模型对 preview/page-0001..0034.png 逐页检查版式（溢出 / 遮挡 / 字号可读性 / 中文字体渲染）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逐页结论记入 _reports/visual_check.json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4F"/>
                          </a:solidFill>
                          <a:latin typeface="微软雅黑"/>
                          <a:ea typeface="微软雅黑"/>
                        </a:rPr>
                        <a:t>_reports/visual_check.json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1064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版式已由视觉模型完成自动检查（对 preview/page-0001..0034.png 逐页检查溢出 / 遮挡 / 字号可读性 / 中文字体渲染，结论记入 _reports/visual_check.json），最终以用户审阅 preview/ 后的确认为准；本页不代表已由人工完成视觉验收。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量纲假设（2.7 节）：输入左移 8 位对齐 24bit（sample24 = int16 × 256），输出右移 8 位还原并钳位；基于 drv_alg.c:46 的 I2S_INOUT_RESOLUTION_LEVEL (2)。若出厂固件使用其它值，基线需重跑。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基线数据中的 nan 是被测对象（固件）的固有缺陷表现（D8：fast_math.c 的 fastpow2 定义域缺陷），只出现在诊断量列 speech_prob_mean（L3 共 481 帧），不是测量故障；报告按原样呈现，未替换为 0。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414F"/>
                </a:solidFill>
                <a:latin typeface="微软雅黑"/>
                <a:ea typeface="微软雅黑"/>
              </a:rPr>
              <a:t>· 限制与重建：不做听感评价、不做板端时序验证；D2 / D3 未覆盖（第 30 页）；python build_deck.py &amp;&amp; python check_deck.py 可一键重建。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A6B7C"/>
                </a:solidFill>
                <a:latin typeface="微软雅黑"/>
                <a:ea typeface="微软雅黑"/>
              </a:rPr>
              <a:t>NS组件化与对比测试报告　·　第 34 页 / 共 34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